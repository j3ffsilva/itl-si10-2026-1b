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425" r:id="rId5"/>
    <p:sldId id="474" r:id="rId6"/>
    <p:sldId id="475" r:id="rId7"/>
    <p:sldId id="476" r:id="rId8"/>
    <p:sldId id="473" r:id="rId9"/>
    <p:sldId id="477" r:id="rId10"/>
    <p:sldId id="478" r:id="rId11"/>
    <p:sldId id="479" r:id="rId12"/>
    <p:sldId id="480" r:id="rId13"/>
    <p:sldId id="481" r:id="rId14"/>
    <p:sldId id="484" r:id="rId15"/>
    <p:sldId id="482" r:id="rId16"/>
    <p:sldId id="483" r:id="rId17"/>
    <p:sldId id="465" r:id="rId18"/>
    <p:sldId id="281" r:id="rId19"/>
    <p:sldId id="282" r:id="rId20"/>
    <p:sldId id="468" r:id="rId21"/>
    <p:sldId id="443" r:id="rId22"/>
    <p:sldId id="469" r:id="rId23"/>
  </p:sldIdLst>
  <p:sldSz cx="12192000" cy="6858000"/>
  <p:notesSz cx="6797675" cy="9926638"/>
  <p:embeddedFontLst>
    <p:embeddedFont>
      <p:font typeface="Bebas Neue" panose="020B0606020202050201" pitchFamily="34" charset="77"/>
      <p:regular r:id="rId25"/>
    </p:embeddedFont>
    <p:embeddedFont>
      <p:font typeface="Cambria Math" panose="02040503050406030204" pitchFamily="18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DADC"/>
    <a:srgbClr val="392D65"/>
    <a:srgbClr val="392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53"/>
    <p:restoredTop sz="92165" autoAdjust="0"/>
  </p:normalViewPr>
  <p:slideViewPr>
    <p:cSldViewPr snapToGrid="0" snapToObjects="1">
      <p:cViewPr>
        <p:scale>
          <a:sx n="113" d="100"/>
          <a:sy n="113" d="100"/>
        </p:scale>
        <p:origin x="1528" y="12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7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7760-01D3-2F84-8789-F67DD53C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CBC59-3B73-83BD-5E1A-DAF9B955B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F8A1D-30B1-CD7D-507F-FAC6F46F9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6477-99E8-CBC2-D7A7-75F25DF70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70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E330-BD90-19E7-0175-06B34C46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A92A2-60DE-A20A-8D5C-C6510C2D1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32400-3EEF-0F81-811A-6D56F06D0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FD13-BC4F-925D-0DEE-7E73AE47F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95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2ACA-1297-52CE-B0CB-3702A48C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72F9C-C4DD-8365-91F0-C6B0E2FA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BDDA5-D31C-44C1-C6DD-85B6EFA06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FA2C3-8FF1-4B05-750B-B318F10A9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65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DB4B-FE29-6C30-40C3-6BD3B9D9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44690-65EC-8AF9-C8D9-67F987583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C58B4-800D-4867-AADD-FEE9B6C4D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F2E62-B3BF-BF98-9DE1-63F036D7B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83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7EA9-0D3F-0E69-640B-B3D4C164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1FEA1-A64F-9AB3-8FB5-9A3C76BAB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D8373-A951-A6D4-3F6C-F6BDF7791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CA9E2-6BEC-6C27-72C1-6F87FEBB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2E0B-338A-1F28-6054-D6A10E8D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C4E86-A184-1ECB-8A92-BF51FD925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03464-1B49-240C-B604-87D64963C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8F44A-BE06-1077-E176-0A4C69599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06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ABDE1-31C1-3FEF-C708-31B75F1C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82478-E2C1-44EF-EABF-ADAEEEBA0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9A1FE-752C-406C-DD99-245F86125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A8916-6D11-1570-792F-ABA829CD5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80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1CDF0-E646-E47A-029B-814EAF4E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931D3-0A0D-025D-EB1A-B9676804E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2C627-A14F-0D34-AB85-DC4405408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15E4B-7D9C-A9FC-090D-85C4BD612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94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AD52-70A4-C65E-2296-1FE56900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85AB0-0EBD-5BF6-258E-F36B5F86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B253B-33A5-6E5C-0D23-41025C82E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AD1C9-5064-A0BC-EFD8-55133EAC3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84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9D42-3539-7BE1-98A2-E689A208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DEC4F-18E4-1FFF-8B68-3D499F601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3E68-A9A5-4CDF-7FAF-7D1C5FE19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B5145-6E62-957F-50D8-A78F6AB8E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29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1D49-3FB7-5A1F-7AB9-D3439470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2C75F-A70A-788D-6C58-5D1E986C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7F448-0F18-DCA6-63B7-E0947CF03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19CA2-29E0-0200-353B-7E93CF308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83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83E-AF8B-6D25-75E5-76E701B5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C89C6-5542-5BBD-33A8-473B5BF98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173AE-0DD2-E288-C034-FB9A16477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AC445-24FC-C958-9C8E-1B3CB43FB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30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F9A3-B9C0-F736-8B7F-C2E07E68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4A6E0-2D42-70F9-B8B7-B4BC2E646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43B5C-C099-97C3-B84E-96273ED3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0117A-403A-67AD-96BD-318117626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00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157E-17B1-B892-560F-51064813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BD4AA-6A59-3F93-7D2F-C04E522E7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BF68C-8E21-99F4-ADE4-B57FBE71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6D6D-D478-DC8B-3A64-04FA93ED7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40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29B8-BC0A-A9E8-D412-84B70693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A65B8-5B71-6791-1E52-DC543DAE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C21ED-0342-BBBF-5394-26DFFA484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4FAA-DCDD-6CB8-E1A8-D39203231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14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8C1B-9C12-5417-0FA1-F76F5E73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D02A6-230A-2C7A-1D28-D5462B7E8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F7F08-DD50-4519-7F91-2E1A9A124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9DAE1-430D-364D-D51A-ED358C46E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13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4CEC-DFAF-7244-A017-439C1C3D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465E2-4ED1-88F7-7278-2A87D5788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E6F2A-C113-66AA-5AE6-C42316C6D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140A1-EF12-F053-AAE6-12AABB00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7_8aU3uXNmVTgjdjZU4-_jBz8YNSIo0W?usp=shar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 l="387" t="2847" r="387" b="2847"/>
          <a:stretch/>
        </p:blipFill>
        <p:spPr>
          <a:xfrm>
            <a:off x="0" y="0"/>
            <a:ext cx="12188952" cy="6465858"/>
          </a:xfrm>
          <a:prstGeom prst="rect">
            <a:avLst/>
          </a:prstGeom>
          <a:ln w="25400">
            <a:solidFill>
              <a:schemeClr val="bg1">
                <a:alpha val="0"/>
              </a:schemeClr>
            </a:solidFill>
          </a:ln>
        </p:spPr>
      </p:pic>
      <p:sp>
        <p:nvSpPr>
          <p:cNvPr id="3" name="Object 2"/>
          <p:cNvSpPr/>
          <p:nvPr/>
        </p:nvSpPr>
        <p:spPr>
          <a:xfrm>
            <a:off x="402866" y="2763715"/>
            <a:ext cx="11386269" cy="799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pt-BR" sz="5400" b="1" kern="0" spc="6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>
                    <a:alpha val="90000"/>
                  </a:srgbClr>
                </a:solidFill>
                <a:latin typeface="Bebas Neue" pitchFamily="34" charset="0"/>
              </a:rPr>
              <a:t>ANÁLISE DE SENSIBILIDADE</a:t>
            </a:r>
            <a:endParaRPr lang="pt-BR" sz="1400" noProof="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4" name="Object 3"/>
          <p:cNvSpPr/>
          <p:nvPr/>
        </p:nvSpPr>
        <p:spPr>
          <a:xfrm>
            <a:off x="0" y="6465858"/>
            <a:ext cx="12188952" cy="390427"/>
          </a:xfrm>
          <a:prstGeom prst="rect">
            <a:avLst/>
          </a:pr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 lang="pt-BR" noProof="0" dirty="0"/>
          </a:p>
        </p:txBody>
      </p:sp>
      <p:sp>
        <p:nvSpPr>
          <p:cNvPr id="5" name="Object 4"/>
          <p:cNvSpPr/>
          <p:nvPr/>
        </p:nvSpPr>
        <p:spPr>
          <a:xfrm>
            <a:off x="476131" y="6554166"/>
            <a:ext cx="6337303" cy="2046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12"/>
              </a:lnSpc>
              <a:buNone/>
            </a:pP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Prof. Jeff Oliveira, </a:t>
            </a:r>
            <a:r>
              <a:rPr lang="pt-BR" sz="1229" kern="0" spc="25" noProof="0" dirty="0" err="1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</a:t>
            </a: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D.</a:t>
            </a:r>
            <a:endParaRPr lang="pt-BR" noProof="0" dirty="0"/>
          </a:p>
        </p:txBody>
      </p:sp>
      <p:sp>
        <p:nvSpPr>
          <p:cNvPr id="6" name="Object 5"/>
          <p:cNvSpPr/>
          <p:nvPr/>
        </p:nvSpPr>
        <p:spPr>
          <a:xfrm>
            <a:off x="5661197" y="6554166"/>
            <a:ext cx="6337303" cy="2046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612"/>
              </a:lnSpc>
              <a:buNone/>
            </a:pP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Encontro 09 | Sem 6 | 26/05/2026 | 10h</a:t>
            </a:r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952633" y="479107"/>
            <a:ext cx="9177305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88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COMBINADOS</a:t>
            </a:r>
            <a:endParaRPr lang="pt-BR" noProof="0" dirty="0"/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/>
          <a:srcRect l="7345" t="1006" r="7345" b="1006"/>
          <a:stretch/>
        </p:blipFill>
        <p:spPr>
          <a:xfrm>
            <a:off x="0" y="0"/>
            <a:ext cx="2903175" cy="6865808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655462" y="1885032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buNone/>
            </a:pP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👍MODELO DE AULAS</a:t>
            </a:r>
            <a:endParaRPr lang="pt-BR" noProof="0" dirty="0"/>
          </a:p>
        </p:txBody>
      </p:sp>
      <p:sp>
        <p:nvSpPr>
          <p:cNvPr id="5" name="Object 4"/>
          <p:cNvSpPr/>
          <p:nvPr/>
        </p:nvSpPr>
        <p:spPr>
          <a:xfrm>
            <a:off x="3655462" y="2221523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31"/>
              </a:spcBef>
              <a:buNone/>
            </a:pPr>
            <a:r>
              <a:rPr lang="pt-BR" sz="1296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CHECK-IN</a:t>
            </a:r>
            <a:endParaRPr lang="pt-BR" noProof="0" dirty="0"/>
          </a:p>
        </p:txBody>
      </p:sp>
      <p:sp>
        <p:nvSpPr>
          <p:cNvPr id="6" name="Object 5"/>
          <p:cNvSpPr/>
          <p:nvPr/>
        </p:nvSpPr>
        <p:spPr>
          <a:xfrm>
            <a:off x="3655462" y="2642006"/>
            <a:ext cx="8548812" cy="2063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Só faça check-in se estiver na sala de aula. Atrasos e a não permanência implicam em falta</a:t>
            </a:r>
            <a:endParaRPr lang="pt-BR" noProof="0" dirty="0"/>
          </a:p>
        </p:txBody>
      </p:sp>
      <p:sp>
        <p:nvSpPr>
          <p:cNvPr id="7" name="Object 6"/>
          <p:cNvSpPr/>
          <p:nvPr/>
        </p:nvSpPr>
        <p:spPr>
          <a:xfrm>
            <a:off x="3655462" y="2977232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95"/>
              </a:spcBef>
              <a:buNone/>
            </a:pPr>
            <a:r>
              <a:rPr lang="pt-BR" sz="1296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EEDBACK</a:t>
            </a:r>
            <a:endParaRPr lang="pt-BR" noProof="0" dirty="0"/>
          </a:p>
        </p:txBody>
      </p:sp>
      <p:sp>
        <p:nvSpPr>
          <p:cNvPr id="8" name="Object 7"/>
          <p:cNvSpPr/>
          <p:nvPr/>
        </p:nvSpPr>
        <p:spPr>
          <a:xfrm>
            <a:off x="3655462" y="3397715"/>
            <a:ext cx="8548812" cy="4127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Lembre-se de deixar um feedback de como foi o encontro. Avise se o sarrafo estiver baixo ou alto demais</a:t>
            </a:r>
            <a:endParaRPr lang="pt-BR" noProof="0" dirty="0"/>
          </a:p>
        </p:txBody>
      </p:sp>
      <p:sp>
        <p:nvSpPr>
          <p:cNvPr id="9" name="Object 8"/>
          <p:cNvSpPr/>
          <p:nvPr/>
        </p:nvSpPr>
        <p:spPr>
          <a:xfrm>
            <a:off x="3655462" y="3939314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95"/>
              </a:spcBef>
              <a:buNone/>
            </a:pPr>
            <a:r>
              <a:rPr lang="pt-BR" sz="1296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PRAZOS</a:t>
            </a:r>
            <a:endParaRPr lang="pt-BR" noProof="0" dirty="0"/>
          </a:p>
        </p:txBody>
      </p:sp>
      <p:sp>
        <p:nvSpPr>
          <p:cNvPr id="10" name="Object 9"/>
          <p:cNvSpPr/>
          <p:nvPr/>
        </p:nvSpPr>
        <p:spPr>
          <a:xfrm>
            <a:off x="3655462" y="4359797"/>
            <a:ext cx="8548812" cy="1533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regra geral é que as atividades devem ser entregues no prazo. Com boas justificativas (e com a concordância do orientador) podemos estender o prazo em algumas circunstâncias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Trabalhos entregues com atraso (2 dias) terão um desconto de 30% da nota. Após, 50% de desconto.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um tem uma ficha de atividade ponderada para atrasar 2 dias sem descontos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Foco</a:t>
            </a:r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444025" y="479107"/>
            <a:ext cx="8662481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en-US" sz="4688" b="1" kern="0" spc="47" dirty="0" err="1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alvos</a:t>
            </a:r>
            <a:endParaRPr lang="en-US" dirty="0"/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/>
          <a:srcRect l="14386" t="1724" r="14386" b="1724"/>
          <a:stretch/>
        </p:blipFill>
        <p:spPr>
          <a:xfrm>
            <a:off x="0" y="0"/>
            <a:ext cx="3371166" cy="6865808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4106333" y="2948888"/>
            <a:ext cx="7278220" cy="1613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2439"/>
              </a:lnSpc>
              <a:buSzPct val="100000"/>
              <a:buFont typeface="+mj-lt"/>
              <a:buAutoNum type="arabicPeriod"/>
            </a:pPr>
            <a:r>
              <a:rPr lang="en-US" sz="2066" kern="0" spc="41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pt-BR" sz="2066" kern="0" spc="41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Entender como a variação em uma ou mais variáveis pode impactar a variável alvo (análise de sensibilidade).</a:t>
            </a:r>
          </a:p>
          <a:p>
            <a:pPr marL="242900" indent="-242900" algn="l">
              <a:lnSpc>
                <a:spcPts val="2439"/>
              </a:lnSpc>
              <a:buSzPct val="100000"/>
              <a:buFont typeface="+mj-lt"/>
              <a:buAutoNum type="arabicPeriod"/>
            </a:pPr>
            <a:endParaRPr lang="pt-BR" sz="2066" kern="0" spc="41" dirty="0">
              <a:solidFill>
                <a:srgbClr val="000000">
                  <a:alpha val="80000"/>
                </a:srgbClr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42900" indent="-242900" algn="l">
              <a:lnSpc>
                <a:spcPts val="2439"/>
              </a:lnSpc>
              <a:buSzPct val="100000"/>
              <a:buFont typeface="+mj-lt"/>
              <a:buAutoNum type="arabicPeriod"/>
            </a:pPr>
            <a:r>
              <a:rPr lang="pt-BR" sz="2066" kern="0" spc="41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Entender como integrar um modelo de machine learning no projeto do parceiro.</a:t>
            </a:r>
            <a:endParaRPr lang="en-US" sz="2066" kern="0" spc="41" dirty="0">
              <a:solidFill>
                <a:srgbClr val="000000">
                  <a:alpha val="80000"/>
                </a:srgbClr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4106333" y="2213245"/>
            <a:ext cx="7278220" cy="3277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582"/>
              </a:lnSpc>
              <a:buNone/>
            </a:pPr>
            <a:r>
              <a:rPr lang="en-US" sz="1600" kern="0" spc="43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Neste encontro, você deverá: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74C7-B6D9-149E-114A-70E65050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09932CBF-0390-58DF-729B-90794B51D18C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88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Mapa da jornada de programação</a:t>
            </a:r>
            <a:endParaRPr lang="pt-BR" noProof="0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99F2610-4A56-6353-C6FC-89721F9A2567}"/>
              </a:ext>
            </a:extLst>
          </p:cNvPr>
          <p:cNvSpPr/>
          <p:nvPr/>
        </p:nvSpPr>
        <p:spPr>
          <a:xfrm>
            <a:off x="2471460" y="425302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12633F9-191C-C655-9052-8BC25F317A59}"/>
              </a:ext>
            </a:extLst>
          </p:cNvPr>
          <p:cNvSpPr/>
          <p:nvPr/>
        </p:nvSpPr>
        <p:spPr>
          <a:xfrm>
            <a:off x="4329893" y="3469862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BC15E51-945A-C7B3-5519-014C968DBA55}"/>
              </a:ext>
            </a:extLst>
          </p:cNvPr>
          <p:cNvSpPr/>
          <p:nvPr/>
        </p:nvSpPr>
        <p:spPr>
          <a:xfrm>
            <a:off x="4219827" y="435462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8BD3997-23B1-6E42-9854-2B47615B8721}"/>
              </a:ext>
            </a:extLst>
          </p:cNvPr>
          <p:cNvSpPr/>
          <p:nvPr/>
        </p:nvSpPr>
        <p:spPr>
          <a:xfrm>
            <a:off x="5078134" y="4445643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27718059-A72C-7750-D88D-1CCED568ABB8}"/>
              </a:ext>
            </a:extLst>
          </p:cNvPr>
          <p:cNvSpPr/>
          <p:nvPr/>
        </p:nvSpPr>
        <p:spPr>
          <a:xfrm>
            <a:off x="7208564" y="416200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C4396D2-9FF1-6DDF-8B3F-E61831834625}"/>
              </a:ext>
            </a:extLst>
          </p:cNvPr>
          <p:cNvSpPr/>
          <p:nvPr/>
        </p:nvSpPr>
        <p:spPr>
          <a:xfrm>
            <a:off x="9564414" y="4311234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196EA80-A476-6621-AFF4-FD8A30456262}"/>
              </a:ext>
            </a:extLst>
          </p:cNvPr>
          <p:cNvSpPr/>
          <p:nvPr/>
        </p:nvSpPr>
        <p:spPr>
          <a:xfrm>
            <a:off x="7735614" y="6032084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1AD51A00-4D74-2ACE-1083-AFC97B43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59" y="1831420"/>
            <a:ext cx="10635480" cy="4412419"/>
          </a:xfrm>
          <a:prstGeom prst="rect">
            <a:avLst/>
          </a:prstGeom>
        </p:spPr>
      </p:pic>
      <p:pic>
        <p:nvPicPr>
          <p:cNvPr id="40" name="Imagem 39" descr="Ícone&#10;&#10;O conteúdo gerado por IA pode estar incorreto.">
            <a:extLst>
              <a:ext uri="{FF2B5EF4-FFF2-40B4-BE49-F238E27FC236}">
                <a16:creationId xmlns:a16="http://schemas.microsoft.com/office/drawing/2014/main" id="{48BDFFEA-ED22-A78E-FC69-48122022D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82654">
            <a:off x="4719204" y="3531511"/>
            <a:ext cx="511701" cy="511701"/>
          </a:xfrm>
          <a:prstGeom prst="rect">
            <a:avLst/>
          </a:prstGeom>
        </p:spPr>
      </p:pic>
      <p:pic>
        <p:nvPicPr>
          <p:cNvPr id="41" name="Imagem 40" descr="Ícone&#10;&#10;O conteúdo gerado por IA pode estar incorreto.">
            <a:extLst>
              <a:ext uri="{FF2B5EF4-FFF2-40B4-BE49-F238E27FC236}">
                <a16:creationId xmlns:a16="http://schemas.microsoft.com/office/drawing/2014/main" id="{A002AC2D-581D-1F3F-F7FB-C61A0EB20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513" y="1865899"/>
            <a:ext cx="511701" cy="511701"/>
          </a:xfrm>
          <a:prstGeom prst="rect">
            <a:avLst/>
          </a:prstGeom>
        </p:spPr>
      </p:pic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E62FAC32-2FF9-DE41-0FE4-9E788C9E0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25067">
            <a:off x="7894363" y="5496713"/>
            <a:ext cx="511701" cy="511701"/>
          </a:xfrm>
          <a:prstGeom prst="rect">
            <a:avLst/>
          </a:prstGeom>
        </p:spPr>
      </p:pic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5D6262CD-1B71-785F-A8CA-AEC802AC273E}"/>
              </a:ext>
            </a:extLst>
          </p:cNvPr>
          <p:cNvSpPr/>
          <p:nvPr/>
        </p:nvSpPr>
        <p:spPr>
          <a:xfrm rot="11133085">
            <a:off x="3663349" y="3700495"/>
            <a:ext cx="272078" cy="288700"/>
          </a:xfrm>
          <a:prstGeom prst="triangle">
            <a:avLst/>
          </a:prstGeom>
          <a:solidFill>
            <a:schemeClr val="bg1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5" name="Imagem 44" descr="Ícone&#10;&#10;O conteúdo gerado por IA pode estar incorreto.">
            <a:extLst>
              <a:ext uri="{FF2B5EF4-FFF2-40B4-BE49-F238E27FC236}">
                <a16:creationId xmlns:a16="http://schemas.microsoft.com/office/drawing/2014/main" id="{E685E9B8-4273-B86D-ABFF-56EC83820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522649" y="4001678"/>
            <a:ext cx="511701" cy="511701"/>
          </a:xfrm>
          <a:prstGeom prst="rect">
            <a:avLst/>
          </a:prstGeom>
        </p:spPr>
      </p:pic>
      <p:sp>
        <p:nvSpPr>
          <p:cNvPr id="46" name="Elipse 45">
            <a:extLst>
              <a:ext uri="{FF2B5EF4-FFF2-40B4-BE49-F238E27FC236}">
                <a16:creationId xmlns:a16="http://schemas.microsoft.com/office/drawing/2014/main" id="{BB466897-7608-A3B6-EE78-09E3853807A4}"/>
              </a:ext>
            </a:extLst>
          </p:cNvPr>
          <p:cNvSpPr/>
          <p:nvPr/>
        </p:nvSpPr>
        <p:spPr>
          <a:xfrm>
            <a:off x="10100725" y="3444814"/>
            <a:ext cx="717195" cy="7171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7" name="Picture 2" descr="Indian Traditional Dress Clipart Transparent Background, Indian Traditional Red  Kite, India, Red, Tradition PNG Image For Free Download">
            <a:extLst>
              <a:ext uri="{FF2B5EF4-FFF2-40B4-BE49-F238E27FC236}">
                <a16:creationId xmlns:a16="http://schemas.microsoft.com/office/drawing/2014/main" id="{6E28F514-2887-977E-EAD8-3A0B8127B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3054">
            <a:off x="9465086" y="3031321"/>
            <a:ext cx="1309897" cy="130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riângulo isósceles 47">
            <a:extLst>
              <a:ext uri="{FF2B5EF4-FFF2-40B4-BE49-F238E27FC236}">
                <a16:creationId xmlns:a16="http://schemas.microsoft.com/office/drawing/2014/main" id="{94992D0C-818B-169D-5FC3-69F3AB7443D5}"/>
              </a:ext>
            </a:extLst>
          </p:cNvPr>
          <p:cNvSpPr/>
          <p:nvPr/>
        </p:nvSpPr>
        <p:spPr>
          <a:xfrm rot="11133085">
            <a:off x="7694329" y="3421619"/>
            <a:ext cx="272078" cy="288700"/>
          </a:xfrm>
          <a:prstGeom prst="triangle">
            <a:avLst/>
          </a:prstGeom>
          <a:solidFill>
            <a:schemeClr val="bg1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4490905-D390-43E6-C55B-1AC9AACA4B45}"/>
              </a:ext>
            </a:extLst>
          </p:cNvPr>
          <p:cNvSpPr txBox="1"/>
          <p:nvPr/>
        </p:nvSpPr>
        <p:spPr>
          <a:xfrm>
            <a:off x="2961895" y="1650763"/>
            <a:ext cx="181303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E2-Geração de Dados Sintéticos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D66FB0C-043B-345D-C116-032A23313B46}"/>
              </a:ext>
            </a:extLst>
          </p:cNvPr>
          <p:cNvSpPr txBox="1"/>
          <p:nvPr/>
        </p:nvSpPr>
        <p:spPr>
          <a:xfrm>
            <a:off x="2719262" y="4626986"/>
            <a:ext cx="211847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E3-Avaliação</a:t>
            </a:r>
            <a:b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 Dados </a:t>
            </a:r>
            <a:b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Sintéticos</a:t>
            </a:r>
          </a:p>
        </p:txBody>
      </p:sp>
      <p:pic>
        <p:nvPicPr>
          <p:cNvPr id="49" name="Imagem 48" descr="Ícone&#10;&#10;O conteúdo gerado por IA pode estar incorreto.">
            <a:extLst>
              <a:ext uri="{FF2B5EF4-FFF2-40B4-BE49-F238E27FC236}">
                <a16:creationId xmlns:a16="http://schemas.microsoft.com/office/drawing/2014/main" id="{601B665B-E597-1DF5-80B2-45532BFE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022" y="2204761"/>
            <a:ext cx="511701" cy="511701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497DC51C-320B-983C-2936-ED7E05E2C8BA}"/>
              </a:ext>
            </a:extLst>
          </p:cNvPr>
          <p:cNvSpPr txBox="1"/>
          <p:nvPr/>
        </p:nvSpPr>
        <p:spPr>
          <a:xfrm>
            <a:off x="4697640" y="3223874"/>
            <a:ext cx="15868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E4, E5 Markov</a:t>
            </a:r>
          </a:p>
        </p:txBody>
      </p:sp>
      <p:pic>
        <p:nvPicPr>
          <p:cNvPr id="51" name="Imagem 50" descr="Ícone&#10;&#10;O conteúdo gerado por IA pode estar incorreto.">
            <a:extLst>
              <a:ext uri="{FF2B5EF4-FFF2-40B4-BE49-F238E27FC236}">
                <a16:creationId xmlns:a16="http://schemas.microsoft.com/office/drawing/2014/main" id="{C5802FB8-0DC1-CBD9-2747-6D8998DC2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607" y="3221127"/>
            <a:ext cx="511701" cy="511701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1876CAFA-3801-D481-745F-C0B436D51786}"/>
              </a:ext>
            </a:extLst>
          </p:cNvPr>
          <p:cNvSpPr txBox="1"/>
          <p:nvPr/>
        </p:nvSpPr>
        <p:spPr>
          <a:xfrm>
            <a:off x="8215199" y="1944937"/>
            <a:ext cx="151111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E6-Testes A/B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7722920-BC81-0564-6D18-B13B6DFDF1AD}"/>
              </a:ext>
            </a:extLst>
          </p:cNvPr>
          <p:cNvSpPr txBox="1"/>
          <p:nvPr/>
        </p:nvSpPr>
        <p:spPr>
          <a:xfrm>
            <a:off x="7401222" y="3873653"/>
            <a:ext cx="15111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E7,E8-MonteCarlo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0D23856-68F2-0DCE-C16E-9F217B7BBED2}"/>
              </a:ext>
            </a:extLst>
          </p:cNvPr>
          <p:cNvSpPr txBox="1"/>
          <p:nvPr/>
        </p:nvSpPr>
        <p:spPr>
          <a:xfrm>
            <a:off x="6319255" y="5525369"/>
            <a:ext cx="15111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E9-Análise de Sensibilidade</a:t>
            </a:r>
          </a:p>
        </p:txBody>
      </p:sp>
      <p:pic>
        <p:nvPicPr>
          <p:cNvPr id="57" name="Imagem 56" descr="Ícone&#10;&#10;O conteúdo gerado por IA pode estar incorreto.">
            <a:extLst>
              <a:ext uri="{FF2B5EF4-FFF2-40B4-BE49-F238E27FC236}">
                <a16:creationId xmlns:a16="http://schemas.microsoft.com/office/drawing/2014/main" id="{EC590C4F-CE81-27BE-A699-2CD9E34A7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179658">
            <a:off x="9265179" y="4577572"/>
            <a:ext cx="511701" cy="511701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EC63B3A4-00AE-282E-2B12-C73F9A7B454A}"/>
              </a:ext>
            </a:extLst>
          </p:cNvPr>
          <p:cNvSpPr txBox="1"/>
          <p:nvPr/>
        </p:nvSpPr>
        <p:spPr>
          <a:xfrm>
            <a:off x="9824506" y="4822075"/>
            <a:ext cx="16287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E10-Tendências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4FFDC033-E6AF-2133-D248-615963273491}"/>
              </a:ext>
            </a:extLst>
          </p:cNvPr>
          <p:cNvSpPr/>
          <p:nvPr/>
        </p:nvSpPr>
        <p:spPr>
          <a:xfrm>
            <a:off x="6352253" y="5147910"/>
            <a:ext cx="2124764" cy="1283937"/>
          </a:xfrm>
          <a:prstGeom prst="rect">
            <a:avLst/>
          </a:prstGeom>
          <a:noFill/>
          <a:ln w="793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9" name="Imagem 38" descr="Ícone&#10;&#10;O conteúdo gerado por IA pode estar incorreto.">
            <a:extLst>
              <a:ext uri="{FF2B5EF4-FFF2-40B4-BE49-F238E27FC236}">
                <a16:creationId xmlns:a16="http://schemas.microsoft.com/office/drawing/2014/main" id="{AF14839E-FD99-4A8E-84F4-B35596A26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277" y="3214011"/>
            <a:ext cx="511701" cy="511701"/>
          </a:xfrm>
          <a:prstGeom prst="rect">
            <a:avLst/>
          </a:prstGeom>
        </p:spPr>
      </p:pic>
      <p:sp>
        <p:nvSpPr>
          <p:cNvPr id="55" name="CaixaDeTexto 54">
            <a:extLst>
              <a:ext uri="{FF2B5EF4-FFF2-40B4-BE49-F238E27FC236}">
                <a16:creationId xmlns:a16="http://schemas.microsoft.com/office/drawing/2014/main" id="{5D104188-F8AF-EC96-2274-3150D3832F18}"/>
              </a:ext>
            </a:extLst>
          </p:cNvPr>
          <p:cNvSpPr txBox="1"/>
          <p:nvPr/>
        </p:nvSpPr>
        <p:spPr>
          <a:xfrm>
            <a:off x="847041" y="2878872"/>
            <a:ext cx="13701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E1-Roadmap</a:t>
            </a:r>
          </a:p>
        </p:txBody>
      </p:sp>
    </p:spTree>
    <p:extLst>
      <p:ext uri="{BB962C8B-B14F-4D97-AF65-F5344CB8AC3E}">
        <p14:creationId xmlns:p14="http://schemas.microsoft.com/office/powerpoint/2010/main" val="156529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73F20-F650-C459-F93B-AAC3D4C3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3FE00F26-44A4-C403-FF93-AACEA4927CD7}"/>
              </a:ext>
            </a:extLst>
          </p:cNvPr>
          <p:cNvSpPr/>
          <p:nvPr/>
        </p:nvSpPr>
        <p:spPr>
          <a:xfrm>
            <a:off x="4190999" y="2941275"/>
            <a:ext cx="7137401" cy="97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Imagine o </a:t>
            </a:r>
            <a:r>
              <a:rPr lang="pt-BR" sz="5400" b="1" kern="0" spc="71" noProof="0" dirty="0">
                <a:solidFill>
                  <a:srgbClr val="392D65"/>
                </a:solidFill>
                <a:latin typeface="Bebas Neue" pitchFamily="34" charset="0"/>
              </a:rPr>
              <a:t>contexto</a:t>
            </a: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!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42174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59662-1818-A572-8F85-F41FFD52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F821E97-450F-6665-3694-C63E6638FD24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contexto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0837C3EC-A033-F5F5-B85D-E3B37EC5D3A6}"/>
              </a:ext>
            </a:extLst>
          </p:cNvPr>
          <p:cNvSpPr/>
          <p:nvPr/>
        </p:nvSpPr>
        <p:spPr>
          <a:xfrm>
            <a:off x="797859" y="1588232"/>
            <a:ext cx="10596282" cy="40020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Você gerencia uma cafeteria e quer entender como o lucro diário (L) é afetado por duas variáveis:</a:t>
            </a:r>
          </a:p>
          <a:p>
            <a:pPr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Preço do café (P): R$ 5,00 por xícara.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Quantidade vendida (Q): 100 xícaras por dia.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entanto, há um custo fixo diário de R$ 200 (aluguel, funcionários etc.) e um custo variável de R$ 2 por xícara vendida (matéria-prima).</a:t>
            </a:r>
          </a:p>
        </p:txBody>
      </p:sp>
    </p:spTree>
    <p:extLst>
      <p:ext uri="{BB962C8B-B14F-4D97-AF65-F5344CB8AC3E}">
        <p14:creationId xmlns:p14="http://schemas.microsoft.com/office/powerpoint/2010/main" val="78718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76F1-E1A1-279C-A29B-46A11F8F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7093A1A0-ED47-3370-5474-2B9E8551CEE5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FÓRMULA DO LUCRO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263E8032-85DE-E22B-602C-1365A36D1594}"/>
              </a:ext>
            </a:extLst>
          </p:cNvPr>
          <p:cNvSpPr/>
          <p:nvPr/>
        </p:nvSpPr>
        <p:spPr>
          <a:xfrm>
            <a:off x="2469777" y="2223986"/>
            <a:ext cx="7252447" cy="3130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Clr>
                <a:srgbClr val="392D65"/>
              </a:buClr>
              <a:buSzPct val="120000"/>
            </a:pPr>
            <a:r>
              <a:rPr lang="pt-BR" sz="2000" kern="0" spc="49" dirty="0">
                <a:latin typeface="Cambria Math" panose="02040503050406030204" pitchFamily="18" charset="0"/>
                <a:ea typeface="Cambria Math" panose="02040503050406030204" pitchFamily="18" charset="0"/>
                <a:cs typeface="Source Sans Pro" pitchFamily="34" charset="-120"/>
              </a:rPr>
              <a:t>L = (P - 2) × Q - 200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536EFCD-E011-C87D-AA3F-C9985DF84920}"/>
              </a:ext>
            </a:extLst>
          </p:cNvPr>
          <p:cNvSpPr/>
          <p:nvPr/>
        </p:nvSpPr>
        <p:spPr>
          <a:xfrm>
            <a:off x="2469777" y="4343401"/>
            <a:ext cx="7252447" cy="3130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Clr>
                <a:srgbClr val="392D65"/>
              </a:buClr>
              <a:buSzPct val="120000"/>
            </a:pPr>
            <a:r>
              <a:rPr lang="pt-BR" sz="2000" kern="0" spc="49" dirty="0">
                <a:latin typeface="Cambria Math" panose="02040503050406030204" pitchFamily="18" charset="0"/>
                <a:ea typeface="Cambria Math" panose="02040503050406030204" pitchFamily="18" charset="0"/>
                <a:cs typeface="Source Sans Pro" pitchFamily="34" charset="-120"/>
              </a:rPr>
              <a:t>L = (5 - 2) × 100 – 200 = 3 × 100 – 200 = 300 – 200 = R$ 100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8A5DCC9-E6C5-D204-2F96-7E3A7C6EC6E5}"/>
              </a:ext>
            </a:extLst>
          </p:cNvPr>
          <p:cNvSpPr/>
          <p:nvPr/>
        </p:nvSpPr>
        <p:spPr>
          <a:xfrm>
            <a:off x="2469777" y="3203012"/>
            <a:ext cx="7252447" cy="474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Aplicando os valores do exemplo:</a:t>
            </a:r>
          </a:p>
        </p:txBody>
      </p:sp>
    </p:spTree>
    <p:extLst>
      <p:ext uri="{BB962C8B-B14F-4D97-AF65-F5344CB8AC3E}">
        <p14:creationId xmlns:p14="http://schemas.microsoft.com/office/powerpoint/2010/main" val="220632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A2EDC-3147-ABEE-DFFC-E464B5F6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95C3591-6D6B-85B1-1E61-BF55EC8120A4}"/>
              </a:ext>
            </a:extLst>
          </p:cNvPr>
          <p:cNvSpPr/>
          <p:nvPr/>
        </p:nvSpPr>
        <p:spPr>
          <a:xfrm>
            <a:off x="520995" y="2123323"/>
            <a:ext cx="7191020" cy="2611355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b="1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Para aumentar os </a:t>
            </a:r>
            <a:r>
              <a:rPr lang="pt-BR" sz="5400" b="1" kern="0" spc="4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lucros, </a:t>
            </a:r>
            <a:r>
              <a:rPr lang="pt-BR" sz="5400" b="1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é melhor aumentar o </a:t>
            </a:r>
            <a:r>
              <a:rPr lang="pt-BR" sz="5400" b="1" kern="0" spc="4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preço</a:t>
            </a:r>
            <a:r>
              <a:rPr lang="pt-BR" sz="5400" b="1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 ou a </a:t>
            </a:r>
            <a:r>
              <a:rPr lang="pt-BR" sz="5400" b="1" kern="0" spc="4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quantidade vendida</a:t>
            </a:r>
            <a:r>
              <a:rPr lang="pt-BR" sz="5400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431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E8DD-FAFB-9BAA-B04C-24021CED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31DAD15D-4488-B49E-8D50-2565768C7CD2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Análise de sensibilidade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5B510592-7042-1432-48F5-AFC0B37AE8C4}"/>
              </a:ext>
            </a:extLst>
          </p:cNvPr>
          <p:cNvSpPr/>
          <p:nvPr/>
        </p:nvSpPr>
        <p:spPr>
          <a:xfrm>
            <a:off x="1378689" y="2129831"/>
            <a:ext cx="9434622" cy="2527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Análise de sensibilidade é um método que avalia como a variação de parâmetros de entrada impacta os resultados de um modelo ou sistema.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Ela ajuda a identificar quais variáveis têm maior influência, auxiliando na tomada de decisões e na robustez das conclusões.</a:t>
            </a:r>
          </a:p>
        </p:txBody>
      </p:sp>
    </p:spTree>
    <p:extLst>
      <p:ext uri="{BB962C8B-B14F-4D97-AF65-F5344CB8AC3E}">
        <p14:creationId xmlns:p14="http://schemas.microsoft.com/office/powerpoint/2010/main" val="3471262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AD537-AAAD-11B4-2E2D-E61558B8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E007C963-3BC4-DED2-80DD-840A78B36F42}"/>
              </a:ext>
            </a:extLst>
          </p:cNvPr>
          <p:cNvSpPr/>
          <p:nvPr/>
        </p:nvSpPr>
        <p:spPr>
          <a:xfrm>
            <a:off x="4120444" y="2502632"/>
            <a:ext cx="7207956" cy="1852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Como calcular a </a:t>
            </a:r>
            <a:b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</a:b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sensibilidade</a:t>
            </a:r>
            <a:r>
              <a:rPr lang="pt-BR" sz="5400" b="1" kern="0" spc="71" noProof="0" dirty="0">
                <a:solidFill>
                  <a:srgbClr val="392D65"/>
                </a:solidFill>
                <a:latin typeface="Bebas Neue" pitchFamily="34" charset="0"/>
              </a:rPr>
              <a:t> manualmente</a:t>
            </a: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?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1262133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C2DD-5BAF-D358-6A3E-A6DA725F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5EBD3F70-5DF1-D810-A537-93AC954C5982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Passo 1: sensibilidade de l ao preço (p)</a:t>
            </a:r>
            <a:endParaRPr lang="pt-BR" sz="4690" noProof="0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30592CD-A81B-2F54-960E-6CB7F03DB797}"/>
              </a:ext>
            </a:extLst>
          </p:cNvPr>
          <p:cNvGrpSpPr/>
          <p:nvPr/>
        </p:nvGrpSpPr>
        <p:grpSpPr>
          <a:xfrm>
            <a:off x="1378689" y="1469550"/>
            <a:ext cx="7252447" cy="687698"/>
            <a:chOff x="1378689" y="1605368"/>
            <a:chExt cx="7252447" cy="687698"/>
          </a:xfrm>
        </p:grpSpPr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DA1F35FA-0B5E-24F1-F6CE-A3FCFC0BD188}"/>
                </a:ext>
              </a:extLst>
            </p:cNvPr>
            <p:cNvSpPr/>
            <p:nvPr/>
          </p:nvSpPr>
          <p:spPr>
            <a:xfrm>
              <a:off x="1378689" y="1605368"/>
              <a:ext cx="7252447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Aumente P em 1%: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sp>
          <p:nvSpPr>
            <p:cNvPr id="3" name="Object 2">
              <a:extLst>
                <a:ext uri="{FF2B5EF4-FFF2-40B4-BE49-F238E27FC236}">
                  <a16:creationId xmlns:a16="http://schemas.microsoft.com/office/drawing/2014/main" id="{21C7B08F-18F2-56C3-61F0-2DFCFE22DE47}"/>
                </a:ext>
              </a:extLst>
            </p:cNvPr>
            <p:cNvSpPr/>
            <p:nvPr/>
          </p:nvSpPr>
          <p:spPr>
            <a:xfrm>
              <a:off x="1378689" y="1980040"/>
              <a:ext cx="7252447" cy="31302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buClr>
                  <a:srgbClr val="392D65"/>
                </a:buClr>
                <a:buSzPct val="120000"/>
              </a:pPr>
              <a:r>
                <a: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P</a:t>
              </a:r>
              <a:r>
                <a:rPr lang="pt-BR" sz="2000" kern="0" spc="49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novo</a:t>
              </a:r>
              <a:r>
                <a: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 = 5 × 1,01 = 5,05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3B48789-0BD6-BA12-5188-7CCC47E93F37}"/>
              </a:ext>
            </a:extLst>
          </p:cNvPr>
          <p:cNvGrpSpPr/>
          <p:nvPr/>
        </p:nvGrpSpPr>
        <p:grpSpPr>
          <a:xfrm>
            <a:off x="1378689" y="2600639"/>
            <a:ext cx="8482487" cy="675383"/>
            <a:chOff x="1378689" y="2931433"/>
            <a:chExt cx="8482487" cy="675383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085EE8A6-FD6A-28C7-2F7C-A8E425B9D0EC}"/>
                </a:ext>
              </a:extLst>
            </p:cNvPr>
            <p:cNvSpPr/>
            <p:nvPr/>
          </p:nvSpPr>
          <p:spPr>
            <a:xfrm>
              <a:off x="1378689" y="2931433"/>
              <a:ext cx="7252447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2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Novo lucro: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sp>
          <p:nvSpPr>
            <p:cNvPr id="5" name="Object 2">
              <a:extLst>
                <a:ext uri="{FF2B5EF4-FFF2-40B4-BE49-F238E27FC236}">
                  <a16:creationId xmlns:a16="http://schemas.microsoft.com/office/drawing/2014/main" id="{318A7463-870D-4662-A8B3-23DE0D882739}"/>
                </a:ext>
              </a:extLst>
            </p:cNvPr>
            <p:cNvSpPr/>
            <p:nvPr/>
          </p:nvSpPr>
          <p:spPr>
            <a:xfrm>
              <a:off x="1378689" y="3293790"/>
              <a:ext cx="8482487" cy="31302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buClr>
                  <a:srgbClr val="392D65"/>
                </a:buClr>
                <a:buSzPct val="120000"/>
              </a:pPr>
              <a:r>
                <a:rPr lang="pt-BR" sz="2000" kern="0" spc="49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L</a:t>
              </a:r>
              <a:r>
                <a:rPr lang="pt-BR" sz="2000" kern="0" spc="49" baseline="-25000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novo</a:t>
              </a:r>
              <a:r>
                <a: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 = (5 – 2) × 100 – 200 = 3,05 × 100 – 200 = 305 – 200 = R$ 105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592B1600-ACCD-FE1D-2A8D-0D7FCAB63D0C}"/>
              </a:ext>
            </a:extLst>
          </p:cNvPr>
          <p:cNvGrpSpPr/>
          <p:nvPr/>
        </p:nvGrpSpPr>
        <p:grpSpPr>
          <a:xfrm>
            <a:off x="1378689" y="3719413"/>
            <a:ext cx="4717311" cy="1108044"/>
            <a:chOff x="1378689" y="3927646"/>
            <a:chExt cx="4717311" cy="1108044"/>
          </a:xfrm>
        </p:grpSpPr>
        <p:sp>
          <p:nvSpPr>
            <p:cNvPr id="6" name="Object 2">
              <a:extLst>
                <a:ext uri="{FF2B5EF4-FFF2-40B4-BE49-F238E27FC236}">
                  <a16:creationId xmlns:a16="http://schemas.microsoft.com/office/drawing/2014/main" id="{2D91D9A7-85F3-3DFC-683D-270C0FCE9750}"/>
                </a:ext>
              </a:extLst>
            </p:cNvPr>
            <p:cNvSpPr/>
            <p:nvPr/>
          </p:nvSpPr>
          <p:spPr>
            <a:xfrm>
              <a:off x="1378689" y="3927646"/>
              <a:ext cx="4717311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3"/>
              </a:pPr>
              <a:r>
                <a:rPr lang="pt-BR" sz="2000" b="1" kern="0" spc="49" dirty="0"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Variação percentual no lucro:</a:t>
              </a:r>
              <a:endParaRPr lang="pt-BR" sz="2000" b="1" kern="0" spc="49" noProof="0" dirty="0"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endParaRPr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B206520-5419-ACC8-7735-A114379A6002}"/>
                </a:ext>
              </a:extLst>
            </p:cNvPr>
            <p:cNvGrpSpPr/>
            <p:nvPr/>
          </p:nvGrpSpPr>
          <p:grpSpPr>
            <a:xfrm>
              <a:off x="1378690" y="4265810"/>
              <a:ext cx="4470611" cy="769880"/>
              <a:chOff x="1378690" y="4663072"/>
              <a:chExt cx="4470611" cy="769880"/>
            </a:xfrm>
          </p:grpSpPr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F0C762E9-3F91-71BE-D85C-061ABDCAC7E6}"/>
                  </a:ext>
                </a:extLst>
              </p:cNvPr>
              <p:cNvSpPr/>
              <p:nvPr/>
            </p:nvSpPr>
            <p:spPr>
              <a:xfrm>
                <a:off x="1378690" y="4891499"/>
                <a:ext cx="2649098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el-G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L = 105 – 100 = R$ 5</a:t>
                </a:r>
              </a:p>
            </p:txBody>
          </p:sp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ADE89EBE-9DDB-91A4-3A21-AA5A3B677AB5}"/>
                  </a:ext>
                </a:extLst>
              </p:cNvPr>
              <p:cNvGrpSpPr/>
              <p:nvPr/>
            </p:nvGrpSpPr>
            <p:grpSpPr>
              <a:xfrm>
                <a:off x="4455459" y="4663072"/>
                <a:ext cx="549929" cy="769880"/>
                <a:chOff x="4455459" y="4663072"/>
                <a:chExt cx="1269067" cy="769880"/>
              </a:xfrm>
            </p:grpSpPr>
            <p:sp>
              <p:nvSpPr>
                <p:cNvPr id="8" name="Object 2">
                  <a:extLst>
                    <a:ext uri="{FF2B5EF4-FFF2-40B4-BE49-F238E27FC236}">
                      <a16:creationId xmlns:a16="http://schemas.microsoft.com/office/drawing/2014/main" id="{BB87450A-0B27-7489-7903-43CF8587B2BE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5</a:t>
                  </a:r>
                </a:p>
              </p:txBody>
            </p:sp>
            <p:cxnSp>
              <p:nvCxnSpPr>
                <p:cNvPr id="10" name="Conector reto 9">
                  <a:extLst>
                    <a:ext uri="{FF2B5EF4-FFF2-40B4-BE49-F238E27FC236}">
                      <a16:creationId xmlns:a16="http://schemas.microsoft.com/office/drawing/2014/main" id="{1DF070EB-C15D-6CF5-D1B3-F04F7EBC06E5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bject 2">
                  <a:extLst>
                    <a:ext uri="{FF2B5EF4-FFF2-40B4-BE49-F238E27FC236}">
                      <a16:creationId xmlns:a16="http://schemas.microsoft.com/office/drawing/2014/main" id="{170E96A3-83B4-85B0-4D04-EF75FD676F49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100</a:t>
                  </a:r>
                </a:p>
              </p:txBody>
            </p:sp>
          </p:grp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4F06740-F9D5-BDD0-376D-D3EC7F7DC6D8}"/>
                  </a:ext>
                </a:extLst>
              </p:cNvPr>
              <p:cNvSpPr/>
              <p:nvPr/>
            </p:nvSpPr>
            <p:spPr>
              <a:xfrm>
                <a:off x="4074292" y="4891499"/>
                <a:ext cx="334663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  <a:sym typeface="Wingdings" panose="05000000000000000000" pitchFamily="2" charset="2"/>
                  </a:rPr>
                  <a:t></a:t>
                </a:r>
                <a:endPara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endParaRPr>
              </a:p>
            </p:txBody>
          </p:sp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6EAAE646-124C-7B80-360B-92DC360D69ED}"/>
                  </a:ext>
                </a:extLst>
              </p:cNvPr>
              <p:cNvSpPr/>
              <p:nvPr/>
            </p:nvSpPr>
            <p:spPr>
              <a:xfrm>
                <a:off x="5051892" y="4891499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0EE6D563-5F8F-23A2-FD51-451A43CB27FF}"/>
                  </a:ext>
                </a:extLst>
              </p:cNvPr>
              <p:cNvSpPr/>
              <p:nvPr/>
            </p:nvSpPr>
            <p:spPr>
              <a:xfrm>
                <a:off x="5433059" y="4891499"/>
                <a:ext cx="416242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ctr"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5%</a:t>
                </a:r>
              </a:p>
            </p:txBody>
          </p:sp>
        </p:grp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EB052C05-8E30-B66B-DC62-BC679BA9532E}"/>
              </a:ext>
            </a:extLst>
          </p:cNvPr>
          <p:cNvGrpSpPr/>
          <p:nvPr/>
        </p:nvGrpSpPr>
        <p:grpSpPr>
          <a:xfrm>
            <a:off x="1377166" y="5270849"/>
            <a:ext cx="4472136" cy="1108044"/>
            <a:chOff x="1377166" y="5270849"/>
            <a:chExt cx="4472136" cy="1108044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471AA304-84E4-F98D-A21C-8DBA0DA2800B}"/>
                </a:ext>
              </a:extLst>
            </p:cNvPr>
            <p:cNvSpPr/>
            <p:nvPr/>
          </p:nvSpPr>
          <p:spPr>
            <a:xfrm>
              <a:off x="1377166" y="5270849"/>
              <a:ext cx="4472136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4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Sensibilidade de L a P: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D6F9E476-0D4E-36D0-C37A-13C8132B95CE}"/>
                </a:ext>
              </a:extLst>
            </p:cNvPr>
            <p:cNvGrpSpPr/>
            <p:nvPr/>
          </p:nvGrpSpPr>
          <p:grpSpPr>
            <a:xfrm>
              <a:off x="1377166" y="5609013"/>
              <a:ext cx="4284562" cy="769880"/>
              <a:chOff x="1377166" y="5609013"/>
              <a:chExt cx="4284562" cy="769880"/>
            </a:xfrm>
          </p:grpSpPr>
          <p:sp>
            <p:nvSpPr>
              <p:cNvPr id="23" name="Object 2">
                <a:extLst>
                  <a:ext uri="{FF2B5EF4-FFF2-40B4-BE49-F238E27FC236}">
                    <a16:creationId xmlns:a16="http://schemas.microsoft.com/office/drawing/2014/main" id="{41B927DC-F90F-8186-BACB-3AF42B9B5461}"/>
                  </a:ext>
                </a:extLst>
              </p:cNvPr>
              <p:cNvSpPr/>
              <p:nvPr/>
            </p:nvSpPr>
            <p:spPr>
              <a:xfrm>
                <a:off x="1377166" y="5837440"/>
                <a:ext cx="1733563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Sensibilidade =</a:t>
                </a:r>
                <a:endPara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8AEFC9E1-1D86-282E-A3C5-E5C50E504FCC}"/>
                  </a:ext>
                </a:extLst>
              </p:cNvPr>
              <p:cNvGrpSpPr/>
              <p:nvPr/>
            </p:nvGrpSpPr>
            <p:grpSpPr>
              <a:xfrm>
                <a:off x="3205884" y="5609013"/>
                <a:ext cx="841897" cy="769880"/>
                <a:chOff x="4455459" y="4663072"/>
                <a:chExt cx="1269067" cy="769880"/>
              </a:xfrm>
            </p:grpSpPr>
            <p:sp>
              <p:nvSpPr>
                <p:cNvPr id="29" name="Object 2">
                  <a:extLst>
                    <a:ext uri="{FF2B5EF4-FFF2-40B4-BE49-F238E27FC236}">
                      <a16:creationId xmlns:a16="http://schemas.microsoft.com/office/drawing/2014/main" id="{09B2B7D5-60BE-8AA6-EE37-E93A10FE76DD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el-G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Δ</a:t>
                  </a: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L/L</a:t>
                  </a:r>
                </a:p>
              </p:txBody>
            </p:sp>
            <p:cxnSp>
              <p:nvCxnSpPr>
                <p:cNvPr id="30" name="Conector reto 29">
                  <a:extLst>
                    <a:ext uri="{FF2B5EF4-FFF2-40B4-BE49-F238E27FC236}">
                      <a16:creationId xmlns:a16="http://schemas.microsoft.com/office/drawing/2014/main" id="{F2EF1447-6C84-0B4E-A13D-FE82BF0FABC4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bject 2">
                  <a:extLst>
                    <a:ext uri="{FF2B5EF4-FFF2-40B4-BE49-F238E27FC236}">
                      <a16:creationId xmlns:a16="http://schemas.microsoft.com/office/drawing/2014/main" id="{E35ED285-2A2E-2C5A-0D1D-A96D63CDCB79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el-G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Δ</a:t>
                  </a: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P/P</a:t>
                  </a:r>
                </a:p>
              </p:txBody>
            </p:sp>
          </p:grpSp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8385002E-2F47-4F17-61AA-90C12175948B}"/>
                  </a:ext>
                </a:extLst>
              </p:cNvPr>
              <p:cNvSpPr/>
              <p:nvPr/>
            </p:nvSpPr>
            <p:spPr>
              <a:xfrm>
                <a:off x="4142935" y="5837440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  <p:sp>
            <p:nvSpPr>
              <p:cNvPr id="28" name="Object 2">
                <a:extLst>
                  <a:ext uri="{FF2B5EF4-FFF2-40B4-BE49-F238E27FC236}">
                    <a16:creationId xmlns:a16="http://schemas.microsoft.com/office/drawing/2014/main" id="{55DE8EDB-B1C2-C7CC-6E98-CE09FAC8823E}"/>
                  </a:ext>
                </a:extLst>
              </p:cNvPr>
              <p:cNvSpPr/>
              <p:nvPr/>
            </p:nvSpPr>
            <p:spPr>
              <a:xfrm>
                <a:off x="5425019" y="5837440"/>
                <a:ext cx="236709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ctr"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5</a:t>
                </a:r>
              </a:p>
            </p:txBody>
          </p:sp>
          <p:grpSp>
            <p:nvGrpSpPr>
              <p:cNvPr id="32" name="Agrupar 31">
                <a:extLst>
                  <a:ext uri="{FF2B5EF4-FFF2-40B4-BE49-F238E27FC236}">
                    <a16:creationId xmlns:a16="http://schemas.microsoft.com/office/drawing/2014/main" id="{CA4C6B71-795A-A049-8F27-3748A5ACE3A7}"/>
                  </a:ext>
                </a:extLst>
              </p:cNvPr>
              <p:cNvGrpSpPr/>
              <p:nvPr/>
            </p:nvGrpSpPr>
            <p:grpSpPr>
              <a:xfrm>
                <a:off x="4497875" y="5609013"/>
                <a:ext cx="507513" cy="769880"/>
                <a:chOff x="4455459" y="4663072"/>
                <a:chExt cx="1269067" cy="769880"/>
              </a:xfrm>
            </p:grpSpPr>
            <p:sp>
              <p:nvSpPr>
                <p:cNvPr id="33" name="Object 2">
                  <a:extLst>
                    <a:ext uri="{FF2B5EF4-FFF2-40B4-BE49-F238E27FC236}">
                      <a16:creationId xmlns:a16="http://schemas.microsoft.com/office/drawing/2014/main" id="{1C9FC4E9-83D2-8456-6ABC-763DD5AC605C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5%</a:t>
                  </a:r>
                </a:p>
              </p:txBody>
            </p:sp>
            <p:cxnSp>
              <p:nvCxnSpPr>
                <p:cNvPr id="34" name="Conector reto 33">
                  <a:extLst>
                    <a:ext uri="{FF2B5EF4-FFF2-40B4-BE49-F238E27FC236}">
                      <a16:creationId xmlns:a16="http://schemas.microsoft.com/office/drawing/2014/main" id="{8378085A-3044-F13E-4EB4-B687C7087ECA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Object 2">
                  <a:extLst>
                    <a:ext uri="{FF2B5EF4-FFF2-40B4-BE49-F238E27FC236}">
                      <a16:creationId xmlns:a16="http://schemas.microsoft.com/office/drawing/2014/main" id="{10D855FC-519C-28AB-2FC6-C542CC81554D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1%</a:t>
                  </a:r>
                </a:p>
              </p:txBody>
            </p:sp>
          </p:grpSp>
          <p:sp>
            <p:nvSpPr>
              <p:cNvPr id="36" name="Object 2">
                <a:extLst>
                  <a:ext uri="{FF2B5EF4-FFF2-40B4-BE49-F238E27FC236}">
                    <a16:creationId xmlns:a16="http://schemas.microsoft.com/office/drawing/2014/main" id="{D509CDB6-170E-B0C5-AED8-FA1F84A4C3BE}"/>
                  </a:ext>
                </a:extLst>
              </p:cNvPr>
              <p:cNvSpPr/>
              <p:nvPr/>
            </p:nvSpPr>
            <p:spPr>
              <a:xfrm>
                <a:off x="5103336" y="5833327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2528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0477-D4FB-7803-B47B-2A7EE6B9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95F346D7-03DC-7FD6-D818-69054401957A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Passo 2: sensibilidade de l </a:t>
            </a:r>
            <a:r>
              <a:rPr lang="pt-BR" sz="4690" b="1" kern="0" spc="47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à </a:t>
            </a: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Quantidade Vendida (Q)</a:t>
            </a:r>
            <a:endParaRPr lang="pt-BR" sz="4690" noProof="0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4A168C7-0A3F-0C54-255B-C6B97C06DB3E}"/>
              </a:ext>
            </a:extLst>
          </p:cNvPr>
          <p:cNvGrpSpPr/>
          <p:nvPr/>
        </p:nvGrpSpPr>
        <p:grpSpPr>
          <a:xfrm>
            <a:off x="1378689" y="1469550"/>
            <a:ext cx="7252447" cy="687698"/>
            <a:chOff x="1378689" y="1605368"/>
            <a:chExt cx="7252447" cy="687698"/>
          </a:xfrm>
        </p:grpSpPr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911B76DC-9C95-0B84-6544-AE9B3FE695A2}"/>
                </a:ext>
              </a:extLst>
            </p:cNvPr>
            <p:cNvSpPr/>
            <p:nvPr/>
          </p:nvSpPr>
          <p:spPr>
            <a:xfrm>
              <a:off x="1378689" y="1605368"/>
              <a:ext cx="7252447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Aumente Q em 1%: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sp>
          <p:nvSpPr>
            <p:cNvPr id="3" name="Object 2">
              <a:extLst>
                <a:ext uri="{FF2B5EF4-FFF2-40B4-BE49-F238E27FC236}">
                  <a16:creationId xmlns:a16="http://schemas.microsoft.com/office/drawing/2014/main" id="{C5401243-A995-0143-D970-434199A60E13}"/>
                </a:ext>
              </a:extLst>
            </p:cNvPr>
            <p:cNvSpPr/>
            <p:nvPr/>
          </p:nvSpPr>
          <p:spPr>
            <a:xfrm>
              <a:off x="1378689" y="1980040"/>
              <a:ext cx="7252447" cy="31302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buClr>
                  <a:srgbClr val="392D65"/>
                </a:buClr>
                <a:buSzPct val="120000"/>
              </a:pPr>
              <a:r>
                <a:rPr lang="pt-BR" sz="2000" kern="0" spc="49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Q</a:t>
              </a:r>
              <a:r>
                <a:rPr lang="pt-BR" sz="2000" kern="0" spc="49" baseline="-25000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novo</a:t>
              </a:r>
              <a:r>
                <a: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 = 100 × 1,01 = 101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DFCD38-47D9-C48D-6399-CE18D0DA71DF}"/>
              </a:ext>
            </a:extLst>
          </p:cNvPr>
          <p:cNvGrpSpPr/>
          <p:nvPr/>
        </p:nvGrpSpPr>
        <p:grpSpPr>
          <a:xfrm>
            <a:off x="1378689" y="2600639"/>
            <a:ext cx="8482487" cy="675383"/>
            <a:chOff x="1378689" y="2931433"/>
            <a:chExt cx="8482487" cy="675383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3B03B234-D902-EAD9-CB2C-CC1EEC80460E}"/>
                </a:ext>
              </a:extLst>
            </p:cNvPr>
            <p:cNvSpPr/>
            <p:nvPr/>
          </p:nvSpPr>
          <p:spPr>
            <a:xfrm>
              <a:off x="1378689" y="2931433"/>
              <a:ext cx="7252447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2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Novo lucro: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sp>
          <p:nvSpPr>
            <p:cNvPr id="5" name="Object 2">
              <a:extLst>
                <a:ext uri="{FF2B5EF4-FFF2-40B4-BE49-F238E27FC236}">
                  <a16:creationId xmlns:a16="http://schemas.microsoft.com/office/drawing/2014/main" id="{6E23DE09-CDA9-35E6-93B6-6B6B935EC230}"/>
                </a:ext>
              </a:extLst>
            </p:cNvPr>
            <p:cNvSpPr/>
            <p:nvPr/>
          </p:nvSpPr>
          <p:spPr>
            <a:xfrm>
              <a:off x="1378689" y="3293790"/>
              <a:ext cx="8482487" cy="31302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buClr>
                  <a:srgbClr val="392D65"/>
                </a:buClr>
                <a:buSzPct val="120000"/>
              </a:pPr>
              <a:r>
                <a:rPr lang="pt-BR" sz="2000" kern="0" spc="49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L</a:t>
              </a:r>
              <a:r>
                <a:rPr lang="pt-BR" sz="2000" kern="0" spc="49" baseline="-25000" dirty="0" err="1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novo</a:t>
              </a:r>
              <a:r>
                <a: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rPr>
                <a:t> = (5 – 2) × 101 – 200 = 3 × 101 – 200 = 303 – 200 = R$ 103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21672207-6108-F93F-A948-3CEE7A3B1E3D}"/>
              </a:ext>
            </a:extLst>
          </p:cNvPr>
          <p:cNvGrpSpPr/>
          <p:nvPr/>
        </p:nvGrpSpPr>
        <p:grpSpPr>
          <a:xfrm>
            <a:off x="1378689" y="3719413"/>
            <a:ext cx="4717311" cy="1108044"/>
            <a:chOff x="1378689" y="3927646"/>
            <a:chExt cx="4717311" cy="1108044"/>
          </a:xfrm>
        </p:grpSpPr>
        <p:sp>
          <p:nvSpPr>
            <p:cNvPr id="6" name="Object 2">
              <a:extLst>
                <a:ext uri="{FF2B5EF4-FFF2-40B4-BE49-F238E27FC236}">
                  <a16:creationId xmlns:a16="http://schemas.microsoft.com/office/drawing/2014/main" id="{4EB0A650-DC79-3A0B-62E0-A3B00F2411E2}"/>
                </a:ext>
              </a:extLst>
            </p:cNvPr>
            <p:cNvSpPr/>
            <p:nvPr/>
          </p:nvSpPr>
          <p:spPr>
            <a:xfrm>
              <a:off x="1378689" y="3927646"/>
              <a:ext cx="4717311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3"/>
              </a:pPr>
              <a:r>
                <a:rPr lang="pt-BR" sz="2000" b="1" kern="0" spc="49" dirty="0"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Variação percentual no lucro:</a:t>
              </a:r>
              <a:endParaRPr lang="pt-BR" sz="2000" b="1" kern="0" spc="49" noProof="0" dirty="0"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endParaRPr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39A72E97-B9DD-8894-946B-2142B48DAE1B}"/>
                </a:ext>
              </a:extLst>
            </p:cNvPr>
            <p:cNvGrpSpPr/>
            <p:nvPr/>
          </p:nvGrpSpPr>
          <p:grpSpPr>
            <a:xfrm>
              <a:off x="1378690" y="4265810"/>
              <a:ext cx="4470611" cy="769880"/>
              <a:chOff x="1378690" y="4663072"/>
              <a:chExt cx="4470611" cy="769880"/>
            </a:xfrm>
          </p:grpSpPr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23489557-82D1-5E2C-6BE3-3E5AFCFE5CBA}"/>
                  </a:ext>
                </a:extLst>
              </p:cNvPr>
              <p:cNvSpPr/>
              <p:nvPr/>
            </p:nvSpPr>
            <p:spPr>
              <a:xfrm>
                <a:off x="1378690" y="4891499"/>
                <a:ext cx="2649098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el-G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L = 103 – 100 = R$ 3</a:t>
                </a:r>
              </a:p>
            </p:txBody>
          </p:sp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7960DB31-26E7-C151-A5DA-AB7075A26B9E}"/>
                  </a:ext>
                </a:extLst>
              </p:cNvPr>
              <p:cNvGrpSpPr/>
              <p:nvPr/>
            </p:nvGrpSpPr>
            <p:grpSpPr>
              <a:xfrm>
                <a:off x="4455459" y="4663072"/>
                <a:ext cx="549929" cy="769880"/>
                <a:chOff x="4455459" y="4663072"/>
                <a:chExt cx="1269067" cy="769880"/>
              </a:xfrm>
            </p:grpSpPr>
            <p:sp>
              <p:nvSpPr>
                <p:cNvPr id="8" name="Object 2">
                  <a:extLst>
                    <a:ext uri="{FF2B5EF4-FFF2-40B4-BE49-F238E27FC236}">
                      <a16:creationId xmlns:a16="http://schemas.microsoft.com/office/drawing/2014/main" id="{BD030B21-86EC-0F54-6A77-555CE5759129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3</a:t>
                  </a:r>
                </a:p>
              </p:txBody>
            </p:sp>
            <p:cxnSp>
              <p:nvCxnSpPr>
                <p:cNvPr id="10" name="Conector reto 9">
                  <a:extLst>
                    <a:ext uri="{FF2B5EF4-FFF2-40B4-BE49-F238E27FC236}">
                      <a16:creationId xmlns:a16="http://schemas.microsoft.com/office/drawing/2014/main" id="{1D730195-C1F7-1BC1-675B-6468F9702202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bject 2">
                  <a:extLst>
                    <a:ext uri="{FF2B5EF4-FFF2-40B4-BE49-F238E27FC236}">
                      <a16:creationId xmlns:a16="http://schemas.microsoft.com/office/drawing/2014/main" id="{DB8F47C5-ADBD-E6B1-919E-C23A552F4D81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100</a:t>
                  </a:r>
                </a:p>
              </p:txBody>
            </p:sp>
          </p:grp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213ECDAC-02B3-EAB7-8313-526662648517}"/>
                  </a:ext>
                </a:extLst>
              </p:cNvPr>
              <p:cNvSpPr/>
              <p:nvPr/>
            </p:nvSpPr>
            <p:spPr>
              <a:xfrm>
                <a:off x="4074292" y="4891499"/>
                <a:ext cx="334663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  <a:sym typeface="Wingdings" panose="05000000000000000000" pitchFamily="2" charset="2"/>
                  </a:rPr>
                  <a:t></a:t>
                </a:r>
                <a:endPara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endParaRPr>
              </a:p>
            </p:txBody>
          </p:sp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FD1EC3DB-78E3-7076-DD26-D5F3D702C353}"/>
                  </a:ext>
                </a:extLst>
              </p:cNvPr>
              <p:cNvSpPr/>
              <p:nvPr/>
            </p:nvSpPr>
            <p:spPr>
              <a:xfrm>
                <a:off x="5051892" y="4891499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C525EBCB-E76B-AC7D-AF24-B769410F587C}"/>
                  </a:ext>
                </a:extLst>
              </p:cNvPr>
              <p:cNvSpPr/>
              <p:nvPr/>
            </p:nvSpPr>
            <p:spPr>
              <a:xfrm>
                <a:off x="5433059" y="4891499"/>
                <a:ext cx="416242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ctr"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3%</a:t>
                </a:r>
              </a:p>
            </p:txBody>
          </p:sp>
        </p:grp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A6F291D-529B-2236-C640-191D706DE907}"/>
              </a:ext>
            </a:extLst>
          </p:cNvPr>
          <p:cNvGrpSpPr/>
          <p:nvPr/>
        </p:nvGrpSpPr>
        <p:grpSpPr>
          <a:xfrm>
            <a:off x="1377166" y="5270849"/>
            <a:ext cx="4472136" cy="1108044"/>
            <a:chOff x="1377166" y="5270849"/>
            <a:chExt cx="4472136" cy="1108044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6BCE21EB-C8D2-FE8F-8527-6555D39108BC}"/>
                </a:ext>
              </a:extLst>
            </p:cNvPr>
            <p:cNvSpPr/>
            <p:nvPr/>
          </p:nvSpPr>
          <p:spPr>
            <a:xfrm>
              <a:off x="1377166" y="5270849"/>
              <a:ext cx="4472136" cy="3623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457200" indent="-457200" algn="l">
                <a:buClr>
                  <a:srgbClr val="392D65"/>
                </a:buClr>
                <a:buSzPct val="120000"/>
                <a:buFont typeface="+mj-lt"/>
                <a:buAutoNum type="arabicPeriod" startAt="4"/>
              </a:pPr>
              <a:r>
                <a:rPr lang="pt-BR" sz="2000" b="1" kern="0" spc="49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Sensibilidade de L a P:</a:t>
              </a:r>
              <a:endPara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endParaRPr>
            </a:p>
          </p:txBody>
        </p: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A33131B6-577C-688D-09E1-26B9D8BC93D3}"/>
                </a:ext>
              </a:extLst>
            </p:cNvPr>
            <p:cNvGrpSpPr/>
            <p:nvPr/>
          </p:nvGrpSpPr>
          <p:grpSpPr>
            <a:xfrm>
              <a:off x="1377166" y="5609013"/>
              <a:ext cx="4284562" cy="769880"/>
              <a:chOff x="1377166" y="5609013"/>
              <a:chExt cx="4284562" cy="769880"/>
            </a:xfrm>
          </p:grpSpPr>
          <p:sp>
            <p:nvSpPr>
              <p:cNvPr id="23" name="Object 2">
                <a:extLst>
                  <a:ext uri="{FF2B5EF4-FFF2-40B4-BE49-F238E27FC236}">
                    <a16:creationId xmlns:a16="http://schemas.microsoft.com/office/drawing/2014/main" id="{F58F6477-49D6-FD1A-B29E-38D7A18223E0}"/>
                  </a:ext>
                </a:extLst>
              </p:cNvPr>
              <p:cNvSpPr/>
              <p:nvPr/>
            </p:nvSpPr>
            <p:spPr>
              <a:xfrm>
                <a:off x="1377166" y="5837440"/>
                <a:ext cx="1733563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Sensibilidade =</a:t>
                </a:r>
                <a:endParaRPr lang="pt-BR" sz="2000" kern="0" spc="49" dirty="0">
                  <a:latin typeface="Cambria Math" panose="02040503050406030204" pitchFamily="18" charset="0"/>
                  <a:ea typeface="Cambria Math" panose="02040503050406030204" pitchFamily="18" charset="0"/>
                  <a:cs typeface="Source Sans Pro" pitchFamily="34" charset="-12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137D0362-DF19-171E-0853-DAA43CDB8D15}"/>
                  </a:ext>
                </a:extLst>
              </p:cNvPr>
              <p:cNvGrpSpPr/>
              <p:nvPr/>
            </p:nvGrpSpPr>
            <p:grpSpPr>
              <a:xfrm>
                <a:off x="3205884" y="5609013"/>
                <a:ext cx="841897" cy="769880"/>
                <a:chOff x="4455459" y="4663072"/>
                <a:chExt cx="1269067" cy="769880"/>
              </a:xfrm>
            </p:grpSpPr>
            <p:sp>
              <p:nvSpPr>
                <p:cNvPr id="29" name="Object 2">
                  <a:extLst>
                    <a:ext uri="{FF2B5EF4-FFF2-40B4-BE49-F238E27FC236}">
                      <a16:creationId xmlns:a16="http://schemas.microsoft.com/office/drawing/2014/main" id="{D1263976-B938-7704-2777-AE8065054AC4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el-G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Δ</a:t>
                  </a: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L/L</a:t>
                  </a:r>
                </a:p>
              </p:txBody>
            </p:sp>
            <p:cxnSp>
              <p:nvCxnSpPr>
                <p:cNvPr id="30" name="Conector reto 29">
                  <a:extLst>
                    <a:ext uri="{FF2B5EF4-FFF2-40B4-BE49-F238E27FC236}">
                      <a16:creationId xmlns:a16="http://schemas.microsoft.com/office/drawing/2014/main" id="{C96C0684-0AF3-4C7E-0475-877644F0CFDE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bject 2">
                  <a:extLst>
                    <a:ext uri="{FF2B5EF4-FFF2-40B4-BE49-F238E27FC236}">
                      <a16:creationId xmlns:a16="http://schemas.microsoft.com/office/drawing/2014/main" id="{410BAEC9-BCE5-9F07-7786-1031C88BAEB6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el-G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Δ</a:t>
                  </a: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P/P</a:t>
                  </a:r>
                </a:p>
              </p:txBody>
            </p:sp>
          </p:grpSp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A1C0E223-7E88-4C36-1451-32897C1C9DDE}"/>
                  </a:ext>
                </a:extLst>
              </p:cNvPr>
              <p:cNvSpPr/>
              <p:nvPr/>
            </p:nvSpPr>
            <p:spPr>
              <a:xfrm>
                <a:off x="4142935" y="5837440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  <p:sp>
            <p:nvSpPr>
              <p:cNvPr id="28" name="Object 2">
                <a:extLst>
                  <a:ext uri="{FF2B5EF4-FFF2-40B4-BE49-F238E27FC236}">
                    <a16:creationId xmlns:a16="http://schemas.microsoft.com/office/drawing/2014/main" id="{1B4007FB-294B-E058-C20A-C931339A97F3}"/>
                  </a:ext>
                </a:extLst>
              </p:cNvPr>
              <p:cNvSpPr/>
              <p:nvPr/>
            </p:nvSpPr>
            <p:spPr>
              <a:xfrm>
                <a:off x="5425019" y="5837440"/>
                <a:ext cx="236709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ctr"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3</a:t>
                </a:r>
              </a:p>
            </p:txBody>
          </p:sp>
          <p:grpSp>
            <p:nvGrpSpPr>
              <p:cNvPr id="32" name="Agrupar 31">
                <a:extLst>
                  <a:ext uri="{FF2B5EF4-FFF2-40B4-BE49-F238E27FC236}">
                    <a16:creationId xmlns:a16="http://schemas.microsoft.com/office/drawing/2014/main" id="{89034404-A499-DFB3-B391-D2313C5AA4DE}"/>
                  </a:ext>
                </a:extLst>
              </p:cNvPr>
              <p:cNvGrpSpPr/>
              <p:nvPr/>
            </p:nvGrpSpPr>
            <p:grpSpPr>
              <a:xfrm>
                <a:off x="4497875" y="5609013"/>
                <a:ext cx="507513" cy="769880"/>
                <a:chOff x="4455459" y="4663072"/>
                <a:chExt cx="1269067" cy="769880"/>
              </a:xfrm>
            </p:grpSpPr>
            <p:sp>
              <p:nvSpPr>
                <p:cNvPr id="33" name="Object 2">
                  <a:extLst>
                    <a:ext uri="{FF2B5EF4-FFF2-40B4-BE49-F238E27FC236}">
                      <a16:creationId xmlns:a16="http://schemas.microsoft.com/office/drawing/2014/main" id="{6DF48447-BF65-FFFD-2CFF-4D4AA2C84BA0}"/>
                    </a:ext>
                  </a:extLst>
                </p:cNvPr>
                <p:cNvSpPr/>
                <p:nvPr/>
              </p:nvSpPr>
              <p:spPr>
                <a:xfrm>
                  <a:off x="4455460" y="4663072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3%</a:t>
                  </a:r>
                </a:p>
              </p:txBody>
            </p:sp>
            <p:cxnSp>
              <p:nvCxnSpPr>
                <p:cNvPr id="34" name="Conector reto 33">
                  <a:extLst>
                    <a:ext uri="{FF2B5EF4-FFF2-40B4-BE49-F238E27FC236}">
                      <a16:creationId xmlns:a16="http://schemas.microsoft.com/office/drawing/2014/main" id="{E7323151-A726-889D-F6A4-6F344DC5CD92}"/>
                    </a:ext>
                  </a:extLst>
                </p:cNvPr>
                <p:cNvCxnSpPr/>
                <p:nvPr/>
              </p:nvCxnSpPr>
              <p:spPr>
                <a:xfrm>
                  <a:off x="4455459" y="5048012"/>
                  <a:ext cx="1269066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Object 2">
                  <a:extLst>
                    <a:ext uri="{FF2B5EF4-FFF2-40B4-BE49-F238E27FC236}">
                      <a16:creationId xmlns:a16="http://schemas.microsoft.com/office/drawing/2014/main" id="{A9C37EDD-23C2-D13C-9FEA-B346DC513C86}"/>
                    </a:ext>
                  </a:extLst>
                </p:cNvPr>
                <p:cNvSpPr/>
                <p:nvPr/>
              </p:nvSpPr>
              <p:spPr>
                <a:xfrm>
                  <a:off x="4455459" y="5119926"/>
                  <a:ext cx="1269066" cy="3130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algn="ctr">
                    <a:buClr>
                      <a:srgbClr val="392D65"/>
                    </a:buClr>
                    <a:buSzPct val="120000"/>
                  </a:pPr>
                  <a:r>
                    <a:rPr lang="pt-BR" sz="2000" kern="0" spc="49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Source Sans Pro" pitchFamily="34" charset="-120"/>
                    </a:rPr>
                    <a:t>1%</a:t>
                  </a:r>
                </a:p>
              </p:txBody>
            </p:sp>
          </p:grpSp>
          <p:sp>
            <p:nvSpPr>
              <p:cNvPr id="36" name="Object 2">
                <a:extLst>
                  <a:ext uri="{FF2B5EF4-FFF2-40B4-BE49-F238E27FC236}">
                    <a16:creationId xmlns:a16="http://schemas.microsoft.com/office/drawing/2014/main" id="{88B50982-6D02-B83C-7B4C-715506D54ED4}"/>
                  </a:ext>
                </a:extLst>
              </p:cNvPr>
              <p:cNvSpPr/>
              <p:nvPr/>
            </p:nvSpPr>
            <p:spPr>
              <a:xfrm>
                <a:off x="5103336" y="5833327"/>
                <a:ext cx="334664" cy="313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buClr>
                    <a:srgbClr val="392D65"/>
                  </a:buClr>
                  <a:buSzPct val="120000"/>
                </a:pPr>
                <a:r>
                  <a:rPr lang="pt-BR" sz="2000" kern="0" spc="49" dirty="0">
                    <a:latin typeface="Cambria Math" panose="02040503050406030204" pitchFamily="18" charset="0"/>
                    <a:ea typeface="Cambria Math" panose="02040503050406030204" pitchFamily="18" charset="0"/>
                    <a:cs typeface="Source Sans Pro" pitchFamily="34" charset="-120"/>
                  </a:rPr>
                  <a:t> =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359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2A3D-985F-591A-E0E4-6BDCA951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C939DA04-0C17-C1A2-36C4-02F2B80286A2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Interpretação dos resultados</a:t>
            </a:r>
            <a:endParaRPr lang="pt-BR" sz="4690" noProof="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29EC2B0-4609-8ED0-B318-2931F98A807D}"/>
              </a:ext>
            </a:extLst>
          </p:cNvPr>
          <p:cNvSpPr/>
          <p:nvPr/>
        </p:nvSpPr>
        <p:spPr>
          <a:xfrm>
            <a:off x="1378689" y="2129831"/>
            <a:ext cx="9434622" cy="2576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Um aumento de 1% gera um aumento de 5% no lucro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Um aumento de 1% na quantidade vendida gera apenas 3% de aumento no lucro.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Nesse cenário simplista, ajustar o preço é mais eficaz para aumentar o lucro do que vender um pouco mais.</a:t>
            </a: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297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9EF2-E89C-C1EA-F70A-56E04FDD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F8E3C649-54F2-D295-9B8D-B3EF3425FD69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relação entre as variáveis</a:t>
            </a:r>
            <a:endParaRPr lang="pt-BR" sz="4690" noProof="0" dirty="0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A8D5E7EA-4522-C1AC-45CB-AD1CF66A9965}"/>
              </a:ext>
            </a:extLst>
          </p:cNvPr>
          <p:cNvGrpSpPr/>
          <p:nvPr/>
        </p:nvGrpSpPr>
        <p:grpSpPr>
          <a:xfrm>
            <a:off x="669426" y="1750055"/>
            <a:ext cx="10853147" cy="3912629"/>
            <a:chOff x="669426" y="1526923"/>
            <a:chExt cx="10853147" cy="3912629"/>
          </a:xfrm>
        </p:grpSpPr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CC9D4228-9054-43F4-A5B2-DE328457B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426" y="2460439"/>
              <a:ext cx="2863892" cy="2957847"/>
            </a:xfrm>
            <a:prstGeom prst="rect">
              <a:avLst/>
            </a:prstGeom>
          </p:spPr>
        </p:pic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B5009334-7E6B-05DA-272D-4741931E4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2744" y="2439173"/>
              <a:ext cx="2905073" cy="3000379"/>
            </a:xfrm>
            <a:prstGeom prst="rect">
              <a:avLst/>
            </a:prstGeom>
          </p:spPr>
        </p:pic>
        <p:pic>
          <p:nvPicPr>
            <p:cNvPr id="49" name="Imagem 48">
              <a:extLst>
                <a:ext uri="{FF2B5EF4-FFF2-40B4-BE49-F238E27FC236}">
                  <a16:creationId xmlns:a16="http://schemas.microsoft.com/office/drawing/2014/main" id="{BDA9E56E-0659-0C71-5C40-704BE0360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7243" y="2487021"/>
              <a:ext cx="3745330" cy="2904682"/>
            </a:xfrm>
            <a:prstGeom prst="rect">
              <a:avLst/>
            </a:prstGeom>
          </p:spPr>
        </p:pic>
        <p:sp>
          <p:nvSpPr>
            <p:cNvPr id="50" name="Object 2">
              <a:extLst>
                <a:ext uri="{FF2B5EF4-FFF2-40B4-BE49-F238E27FC236}">
                  <a16:creationId xmlns:a16="http://schemas.microsoft.com/office/drawing/2014/main" id="{9EAEA1BB-267A-EC3F-C64E-D8A734D20AA9}"/>
                </a:ext>
              </a:extLst>
            </p:cNvPr>
            <p:cNvSpPr/>
            <p:nvPr/>
          </p:nvSpPr>
          <p:spPr>
            <a:xfrm>
              <a:off x="797442" y="1526923"/>
              <a:ext cx="10725131" cy="45388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ts val="3500"/>
                </a:lnSpc>
                <a:spcBef>
                  <a:spcPts val="600"/>
                </a:spcBef>
                <a:buClr>
                  <a:srgbClr val="392D65"/>
                </a:buClr>
                <a:buSzPct val="120000"/>
              </a:pPr>
              <a:r>
                <a:rPr lang="pt-BR" sz="2000" kern="0" spc="49" noProof="0" dirty="0"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Antes do desenvolvimento do modelo, é importante entender as relações entre as variáveis.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893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EEC85-9A6E-0EAF-5152-C9CDEFA9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73ACE6F-E64B-654C-D73A-E141A0C2EBC4}"/>
              </a:ext>
            </a:extLst>
          </p:cNvPr>
          <p:cNvSpPr/>
          <p:nvPr/>
        </p:nvSpPr>
        <p:spPr>
          <a:xfrm>
            <a:off x="520995" y="2510842"/>
            <a:ext cx="5789493" cy="1836316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b="1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Em suas palavras, o que é a </a:t>
            </a:r>
            <a:r>
              <a:rPr lang="pt-BR" sz="5400" b="1" kern="0" spc="4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sensibilidade</a:t>
            </a:r>
            <a:r>
              <a:rPr lang="pt-BR" sz="5400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4006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F6871-B2F6-6278-CF92-5C82E8F9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5354636-8E6D-BD96-9582-829C46974B51}"/>
              </a:ext>
            </a:extLst>
          </p:cNvPr>
          <p:cNvSpPr/>
          <p:nvPr/>
        </p:nvSpPr>
        <p:spPr>
          <a:xfrm>
            <a:off x="520995" y="2170010"/>
            <a:ext cx="7008693" cy="2517980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b="1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Como aplicar a análise se sensibilidade no projeto </a:t>
            </a:r>
            <a:r>
              <a:rPr lang="pt-BR" sz="5400" b="1" kern="0" spc="49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sensibilidade</a:t>
            </a:r>
            <a:r>
              <a:rPr lang="pt-BR" sz="5400" kern="0" spc="49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3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18FAC-2B98-B648-BDE5-7E295DD6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69729F13-CBEC-0B82-2F95-CE01FBA5C1F1}"/>
              </a:ext>
            </a:extLst>
          </p:cNvPr>
          <p:cNvSpPr/>
          <p:nvPr/>
        </p:nvSpPr>
        <p:spPr>
          <a:xfrm>
            <a:off x="502115" y="2414626"/>
            <a:ext cx="11187770" cy="9140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7383"/>
              </a:lnSpc>
              <a:buNone/>
            </a:pPr>
            <a:r>
              <a:rPr lang="pt-BR" sz="6000" kern="0" spc="71" noProof="0" dirty="0">
                <a:solidFill>
                  <a:srgbClr val="392D65"/>
                </a:solidFill>
                <a:latin typeface="Bebas Neue" pitchFamily="34" charset="0"/>
              </a:rPr>
              <a:t>Hands</a:t>
            </a:r>
            <a:r>
              <a:rPr lang="pt-BR" sz="6000" b="1" kern="0" spc="71" noProof="0" dirty="0">
                <a:solidFill>
                  <a:srgbClr val="392D65"/>
                </a:solidFill>
                <a:latin typeface="Bebas Neue" pitchFamily="34" charset="0"/>
              </a:rPr>
              <a:t> ON</a:t>
            </a:r>
            <a:endParaRPr lang="pt-BR" sz="1400" b="1" noProof="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EC97F50-BCA5-83EC-7B29-9A2D58405C7D}"/>
              </a:ext>
            </a:extLst>
          </p:cNvPr>
          <p:cNvSpPr/>
          <p:nvPr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rgbClr val="392D65"/>
          </a:solidFill>
          <a:ln>
            <a:solidFill>
              <a:srgbClr val="392D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noProof="0" dirty="0">
                <a:solidFill>
                  <a:srgbClr val="A8DADC"/>
                </a:solidFill>
                <a:latin typeface="Roboto" panose="02000000000000000000" pitchFamily="2" charset="0"/>
                <a:ea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https://colab.research.google.com/drive/17_8aU3uXNmVTgjdjZU4-_jBz8YNSIo0W?usp=sharing</a:t>
            </a:r>
            <a:endParaRPr lang="pt-BR" sz="1600" noProof="0" dirty="0">
              <a:solidFill>
                <a:srgbClr val="A8DAD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2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8475" cy="6865808"/>
          </a:xfrm>
          <a:prstGeom prst="rect">
            <a:avLst/>
          </a:prstGeom>
          <a:solidFill>
            <a:srgbClr val="FE4F4F"/>
          </a:solidFill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/>
          <a:srcRect t="11" b="11"/>
          <a:stretch/>
        </p:blipFill>
        <p:spPr>
          <a:xfrm>
            <a:off x="0" y="0"/>
            <a:ext cx="12198475" cy="68658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92D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780355" y="3055868"/>
            <a:ext cx="2409223" cy="9373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7031" b="1" kern="0" spc="71" noProof="0" dirty="0">
                <a:solidFill>
                  <a:srgbClr val="FFFFFF">
                    <a:alpha val="90000"/>
                  </a:srgbClr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BACKUP</a:t>
            </a:r>
            <a:endParaRPr lang="pt-BR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23F5-E860-5306-83B2-0B5D6A32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46485CAB-8AA6-F7CE-85C8-1CEC60AD4FC3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Simulação de monte </a:t>
            </a:r>
            <a:r>
              <a:rPr lang="pt-BR" sz="4690" b="1" kern="0" spc="47" noProof="0" dirty="0" err="1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carlo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05EFB7E5-CC80-0A0F-DC81-AE7DCCBBB7C8}"/>
              </a:ext>
            </a:extLst>
          </p:cNvPr>
          <p:cNvSpPr/>
          <p:nvPr/>
        </p:nvSpPr>
        <p:spPr>
          <a:xfrm>
            <a:off x="1378689" y="2129831"/>
            <a:ext cx="9434622" cy="3271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 simulações de Monte Carlo são métodos computacionais que utilizam amostragens aleatórias repetidas para estimar resultados numéricos ou analisar incertezas em modelos complexos.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Elas são especialmente úteis para resolver problemas estatísticos, financeiros ou físicos onde soluções exatas são difíceis ou impossíveis de obter.</a:t>
            </a:r>
          </a:p>
        </p:txBody>
      </p:sp>
    </p:spTree>
    <p:extLst>
      <p:ext uri="{BB962C8B-B14F-4D97-AF65-F5344CB8AC3E}">
        <p14:creationId xmlns:p14="http://schemas.microsoft.com/office/powerpoint/2010/main" val="2058841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03BF0-9FE8-142A-E533-3B6BD60A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5AF4A5B7-729C-646D-34DE-13B120076A49}"/>
              </a:ext>
            </a:extLst>
          </p:cNvPr>
          <p:cNvSpPr/>
          <p:nvPr/>
        </p:nvSpPr>
        <p:spPr>
          <a:xfrm>
            <a:off x="3454401" y="2453550"/>
            <a:ext cx="7874000" cy="195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O problema da visão ingênua é que ela não quantifica os </a:t>
            </a:r>
            <a:r>
              <a:rPr lang="pt-BR" sz="5400" b="1" kern="0" spc="71" noProof="0" dirty="0">
                <a:solidFill>
                  <a:srgbClr val="392D65"/>
                </a:solidFill>
                <a:latin typeface="Bebas Neue" pitchFamily="34" charset="0"/>
              </a:rPr>
              <a:t>riscos</a:t>
            </a: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!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2936404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A2BF9-8D17-8FD2-9035-531FD701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E449BCB-D8DE-2AA5-84DC-B43785751B6F}"/>
              </a:ext>
            </a:extLst>
          </p:cNvPr>
          <p:cNvSpPr/>
          <p:nvPr/>
        </p:nvSpPr>
        <p:spPr>
          <a:xfrm>
            <a:off x="615820" y="2118343"/>
            <a:ext cx="5040701" cy="2621314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Como a </a:t>
            </a:r>
            <a:r>
              <a:rPr lang="pt-BR" sz="5400" b="1" kern="0" spc="49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simulação de </a:t>
            </a:r>
            <a:r>
              <a:rPr lang="pt-BR" sz="5400" b="1" kern="0" spc="49" noProof="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montecarlo</a:t>
            </a: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 poderia ser mais útil?</a:t>
            </a:r>
          </a:p>
        </p:txBody>
      </p:sp>
    </p:spTree>
    <p:extLst>
      <p:ext uri="{BB962C8B-B14F-4D97-AF65-F5344CB8AC3E}">
        <p14:creationId xmlns:p14="http://schemas.microsoft.com/office/powerpoint/2010/main" val="61331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9158</TotalTime>
  <Words>878</Words>
  <Application>Microsoft Macintosh PowerPoint</Application>
  <PresentationFormat>Widescreen</PresentationFormat>
  <Paragraphs>136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Source Sans Pro</vt:lpstr>
      <vt:lpstr>Cambria Math</vt:lpstr>
      <vt:lpstr>Roboto</vt:lpstr>
      <vt:lpstr>Bebas Neue</vt:lpstr>
      <vt:lpstr>Wingdings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ITL-SI11-2024-e03</dc:title>
  <dc:subject>ITL-SI11-2024-e03</dc:subject>
  <dc:creator>Jefferson Silva</dc:creator>
  <cp:lastModifiedBy>Jefferson DE OLIVEIRA SILVA</cp:lastModifiedBy>
  <cp:revision>187</cp:revision>
  <cp:lastPrinted>2025-05-09T09:28:43Z</cp:lastPrinted>
  <dcterms:created xsi:type="dcterms:W3CDTF">2024-08-26T21:47:59Z</dcterms:created>
  <dcterms:modified xsi:type="dcterms:W3CDTF">2026-05-26T12:00:30Z</dcterms:modified>
</cp:coreProperties>
</file>